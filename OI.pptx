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20" Type="http://schemas.openxmlformats.org/officeDocument/2006/relationships/viewProps" Target="viewProps.xml" /><Relationship Id="rId19" Type="http://schemas.openxmlformats.org/officeDocument/2006/relationships/presProps" Target="presProps.xml" /><Relationship Id="rId1" Type="http://schemas.openxmlformats.org/officeDocument/2006/relationships/slideMaster" Target="slideMasters/slideMaster1.xml" /><Relationship Id="rId22" Type="http://schemas.openxmlformats.org/officeDocument/2006/relationships/tableStyles" Target="tableStyles.xml" /><Relationship Id="rId2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9.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0.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1.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2.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3.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4.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Operations on Integers</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r>
              <a:rPr/>
              <a:t>-Jaime Niel P. Alap -Leah A. Camonayan</a:t>
            </a:r>
          </a:p>
        </p:txBody>
      </p:sp>
      <p:sp>
        <p:nvSpPr>
          <p:cNvPr id="4" name="Date Placeholder 3"/>
          <p:cNvSpPr>
            <a:spLocks noGrp="1"/>
          </p:cNvSpPr>
          <p:nvPr>
            <p:ph idx="10" sz="half" type="dt"/>
          </p:nvPr>
        </p:nvSpPr>
        <p:spPr/>
        <p:txBody>
          <a:bodyPr/>
          <a:lstStyle/>
          <a:p>
            <a:pPr lvl="0" indent="0" marL="0">
              <a:buNone/>
            </a:pPr>
            <a:r>
              <a:rPr/>
              <a:t>02/15/2024</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i="1"/>
              <a:t>RECAP</a:t>
            </a:r>
          </a:p>
          <a:p>
            <a:pPr lvl="0" indent="0" marL="0">
              <a:buNone/>
            </a:pPr>
            <a:r>
              <a:rPr/>
              <a:t>Answer the following questions briefly.</a:t>
            </a:r>
          </a:p>
          <a:p>
            <a:pPr lvl="0" indent="0" marL="0">
              <a:buNone/>
            </a:pPr>
            <a:r>
              <a:rPr/>
              <a:t>1. What is the difference of one negative number and one positive number?</a:t>
            </a:r>
          </a:p>
          <a:p>
            <a:pPr lvl="0" indent="0" marL="0">
              <a:buNone/>
            </a:pPr>
            <a:r>
              <a:rPr/>
              <a:t>2. What is the difference of 14 and -3?</a:t>
            </a:r>
          </a:p>
          <a:p>
            <a:pPr lvl="0" indent="0" marL="0">
              <a:buNone/>
            </a:pPr>
            <a:r>
              <a:rPr/>
              <a:t>3. How far is 10 from 25 on the number line?</a:t>
            </a:r>
          </a:p>
          <a:p>
            <a:pPr lvl="0" indent="0" marL="0">
              <a:spcBef>
                <a:spcPts val="3000"/>
              </a:spcBef>
              <a:buNone/>
            </a:pPr>
            <a:r>
              <a:rPr b="1"/>
              <a:t>LESSON 1: Dividing Integers with Like Signs</a:t>
            </a:r>
          </a:p>
          <a:p>
            <a:pPr lvl="0" indent="0" marL="0">
              <a:buNone/>
            </a:pPr>
            <a:r>
              <a:rPr/>
              <a:t>Division is the inverse of multiplication. It is the process of finding the quotient of two numbers, the dividend which is the number to be divided and the divisor, the number that divides. Dividing integers follow the same steps in dividing whole numbers. But, in dividing integers, you must be careful of the sign to be used in your final answer. In this lesson, you will learn how to divide integers with like signs.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What’s In</a:t>
            </a:r>
          </a:p>
        </p:txBody>
      </p:sp>
      <p:sp>
        <p:nvSpPr>
          <p:cNvPr id="4" name="Text Placeholder 3"/>
          <p:cNvSpPr>
            <a:spLocks noGrp="1"/>
          </p:cNvSpPr>
          <p:nvPr>
            <p:ph idx="2" sz="half" type="body"/>
          </p:nvPr>
        </p:nvSpPr>
        <p:spPr/>
        <p:txBody>
          <a:bodyPr/>
          <a:lstStyle/>
          <a:p>
            <a:pPr lvl="0" indent="0" marL="0">
              <a:buNone/>
            </a:pPr>
            <a:r>
              <a:rPr/>
              <a:t>Use the given illustrations below to solve for the quotient of the following numbers. Write your answers on your answer sheet.</a:t>
            </a:r>
          </a:p>
          <a:p>
            <a:pPr lvl="0" indent="0" marL="0">
              <a:buNone/>
            </a:pPr>
            <a:r>
              <a:rPr b="1"/>
              <a:t>1) 10 ÷ 5 =</a:t>
            </a:r>
          </a:p>
        </p:txBody>
      </p:sp>
      <p:pic>
        <p:nvPicPr>
          <p:cNvPr descr="images/clipboard-1768269796.png" id="0" name="Picture 1"/>
          <p:cNvPicPr>
            <a:picLocks noGrp="1" noChangeAspect="1"/>
          </p:cNvPicPr>
          <p:nvPr/>
        </p:nvPicPr>
        <p:blipFill>
          <a:blip r:embed="rId2"/>
          <a:stretch>
            <a:fillRect/>
          </a:stretch>
        </p:blipFill>
        <p:spPr bwMode="auto">
          <a:xfrm>
            <a:off x="3568700" y="1409700"/>
            <a:ext cx="5105400" cy="1955800"/>
          </a:xfrm>
          <a:prstGeom prst="rect">
            <a:avLst/>
          </a:prstGeom>
          <a:noFill/>
          <a:ln w="9525">
            <a:noFill/>
            <a:headEnd/>
            <a:tailEnd/>
          </a:ln>
        </p:spPr>
      </p:pic>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t>2) 12 ÷ 3 =</a:t>
            </a:r>
          </a:p>
        </p:txBody>
      </p:sp>
      <p:pic>
        <p:nvPicPr>
          <p:cNvPr descr="images/clipboard-3983713681.png" id="0" name="Picture 1"/>
          <p:cNvPicPr>
            <a:picLocks noGrp="1" noChangeAspect="1"/>
          </p:cNvPicPr>
          <p:nvPr/>
        </p:nvPicPr>
        <p:blipFill>
          <a:blip r:embed="rId2"/>
          <a:stretch>
            <a:fillRect/>
          </a:stretch>
        </p:blipFill>
        <p:spPr bwMode="auto">
          <a:xfrm>
            <a:off x="3568700" y="749300"/>
            <a:ext cx="5105400" cy="3289300"/>
          </a:xfrm>
          <a:prstGeom prst="rect">
            <a:avLst/>
          </a:prstGeom>
          <a:noFill/>
          <a:ln w="9525">
            <a:noFill/>
            <a:headEnd/>
            <a:tailEnd/>
          </a:ln>
        </p:spPr>
      </p:pic>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t>3) 8 ÷ 2 =</a:t>
            </a:r>
          </a:p>
        </p:txBody>
      </p:sp>
      <p:pic>
        <p:nvPicPr>
          <p:cNvPr descr="images/clipboard-4122306074.png" id="0" name="Picture 1"/>
          <p:cNvPicPr>
            <a:picLocks noGrp="1" noChangeAspect="1"/>
          </p:cNvPicPr>
          <p:nvPr/>
        </p:nvPicPr>
        <p:blipFill>
          <a:blip r:embed="rId2"/>
          <a:stretch>
            <a:fillRect/>
          </a:stretch>
        </p:blipFill>
        <p:spPr bwMode="auto">
          <a:xfrm>
            <a:off x="3568700" y="1943100"/>
            <a:ext cx="5105400" cy="914400"/>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t>4) 16 ÷ 4 =</a:t>
            </a:r>
          </a:p>
        </p:txBody>
      </p:sp>
      <p:pic>
        <p:nvPicPr>
          <p:cNvPr descr="images/clipboard-2527373277.png" id="0" name="Picture 1"/>
          <p:cNvPicPr>
            <a:picLocks noGrp="1" noChangeAspect="1"/>
          </p:cNvPicPr>
          <p:nvPr/>
        </p:nvPicPr>
        <p:blipFill>
          <a:blip r:embed="rId2"/>
          <a:stretch>
            <a:fillRect/>
          </a:stretch>
        </p:blipFill>
        <p:spPr bwMode="auto">
          <a:xfrm>
            <a:off x="3568700" y="1727200"/>
            <a:ext cx="5105400" cy="1320800"/>
          </a:xfrm>
          <a:prstGeom prst="rect">
            <a:avLst/>
          </a:prstGeom>
          <a:noFill/>
          <a:ln w="9525">
            <a:noFill/>
            <a:headEnd/>
            <a:tailEnd/>
          </a:ln>
        </p:spPr>
      </p:pic>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t> 5) 24 ÷ 3 =</a:t>
            </a:r>
          </a:p>
        </p:txBody>
      </p:sp>
      <p:pic>
        <p:nvPicPr>
          <p:cNvPr descr="images/clipboard-2798358267.png" id="0" name="Picture 1"/>
          <p:cNvPicPr>
            <a:picLocks noGrp="1" noChangeAspect="1"/>
          </p:cNvPicPr>
          <p:nvPr/>
        </p:nvPicPr>
        <p:blipFill>
          <a:blip r:embed="rId2"/>
          <a:stretch>
            <a:fillRect/>
          </a:stretch>
        </p:blipFill>
        <p:spPr bwMode="auto">
          <a:xfrm>
            <a:off x="3568700" y="1676400"/>
            <a:ext cx="5105400" cy="14478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RULES IN DIVIDING INTEGERS</a:t>
            </a:r>
          </a:p>
          <a:p>
            <a:pPr lvl="0" indent="0" marL="0">
              <a:buNone/>
            </a:pPr>
            <a:r>
              <a:rPr/>
              <a:t>Note : </a:t>
            </a:r>
          </a:p>
          <a:p>
            <a:pPr lvl="0" indent="0" marL="0">
              <a:spcBef>
                <a:spcPts val="3000"/>
              </a:spcBef>
              <a:buNone/>
            </a:pPr>
            <a:r>
              <a:rPr b="1"/>
              <a:t>What’s New</a:t>
            </a:r>
          </a:p>
          <a:p>
            <a:pPr lvl="0" indent="0" marL="0">
              <a:buNone/>
            </a:pPr>
            <a:r>
              <a:rPr/>
              <a:t>Read and study the problem below.</a:t>
            </a:r>
          </a:p>
        </p:txBody>
      </p:sp>
      <p:pic>
        <p:nvPicPr>
          <p:cNvPr descr="images/clipboard-2930505208.png" id="0" name="Picture 1"/>
          <p:cNvPicPr>
            <a:picLocks noGrp="1" noChangeAspect="1"/>
          </p:cNvPicPr>
          <p:nvPr/>
        </p:nvPicPr>
        <p:blipFill>
          <a:blip r:embed="rId2"/>
          <a:stretch>
            <a:fillRect/>
          </a:stretch>
        </p:blipFill>
        <p:spPr bwMode="auto">
          <a:xfrm>
            <a:off x="3568700" y="2082800"/>
            <a:ext cx="5105400" cy="635000"/>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What is It</a:t>
            </a:r>
          </a:p>
          <a:p>
            <a:pPr lvl="0" indent="0" marL="0">
              <a:buNone/>
            </a:pPr>
            <a:r>
              <a:rPr/>
              <a:t>To determine the number of kilometers JR traveled per hour, we are going to divide 18 by 3.</a:t>
            </a:r>
          </a:p>
          <a:p>
            <a:pPr lvl="0" indent="0" marL="0">
              <a:buNone/>
            </a:pPr>
            <a:r>
              <a:rPr/>
              <a:t>Eighteen kilometers going north is represented by the integer positive eighteen (+18). Three hours is represented by the integer positive three (+3).</a:t>
            </a:r>
          </a:p>
          <a:p>
            <a:pPr lvl="0" indent="0" marL="0">
              <a:buNone/>
            </a:pPr>
            <a:r>
              <a:rPr/>
              <a:t>So our equation will be </a:t>
            </a:r>
            <a:r>
              <a:rPr b="1"/>
              <a:t>+18 ÷ +3 = N</a:t>
            </a:r>
          </a:p>
          <a:p>
            <a:pPr lvl="0" indent="0" marL="0">
              <a:buNone/>
            </a:pPr>
            <a:r>
              <a:rPr/>
              <a:t>Now, let us visualize +18 ÷ +3 = N using counters. To perform the division operation of integers using counters, follow the suggested steps below:</a:t>
            </a:r>
          </a:p>
          <a:p>
            <a:pPr lvl="0" indent="0" marL="0">
              <a:buNone/>
            </a:pPr>
            <a:r>
              <a:rPr b="1"/>
              <a:t>Step 1:</a:t>
            </a:r>
            <a:r>
              <a:rPr/>
              <a:t> Get the exact number of counters to represent your dividend. Get the 18 positive counters. Place them on your table.</a:t>
            </a:r>
          </a:p>
        </p:txBody>
      </p:sp>
      <p:pic>
        <p:nvPicPr>
          <p:cNvPr descr="images/clipboard-1497037499.png" id="0" name="Picture 1"/>
          <p:cNvPicPr>
            <a:picLocks noGrp="1" noChangeAspect="1"/>
          </p:cNvPicPr>
          <p:nvPr/>
        </p:nvPicPr>
        <p:blipFill>
          <a:blip r:embed="rId2"/>
          <a:stretch>
            <a:fillRect/>
          </a:stretch>
        </p:blipFill>
        <p:spPr bwMode="auto">
          <a:xfrm>
            <a:off x="3568700" y="1930400"/>
            <a:ext cx="5105400" cy="9271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b="1"/>
              <a:t>Step 2:</a:t>
            </a:r>
            <a:r>
              <a:rPr/>
              <a:t> Draw boxes to represent the number of sets to where the counters will be distributed evenly. Draw 3 boxes.</a:t>
            </a:r>
          </a:p>
        </p:txBody>
      </p:sp>
      <p:pic>
        <p:nvPicPr>
          <p:cNvPr descr="images/clipboard-3005753949.png" id="0" name="Picture 1"/>
          <p:cNvPicPr>
            <a:picLocks noGrp="1" noChangeAspect="1"/>
          </p:cNvPicPr>
          <p:nvPr/>
        </p:nvPicPr>
        <p:blipFill>
          <a:blip r:embed="rId2"/>
          <a:stretch>
            <a:fillRect/>
          </a:stretch>
        </p:blipFill>
        <p:spPr bwMode="auto">
          <a:xfrm>
            <a:off x="3568700" y="1892300"/>
            <a:ext cx="5105400" cy="10160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t>The quotient is the number of equal counters in each set.</a:t>
            </a:r>
          </a:p>
        </p:txBody>
      </p:sp>
      <p:pic>
        <p:nvPicPr>
          <p:cNvPr descr="images/clipboard-3752572678.png" id="0" name="Picture 1"/>
          <p:cNvPicPr>
            <a:picLocks noGrp="1" noChangeAspect="1"/>
          </p:cNvPicPr>
          <p:nvPr/>
        </p:nvPicPr>
        <p:blipFill>
          <a:blip r:embed="rId2"/>
          <a:stretch>
            <a:fillRect/>
          </a:stretch>
        </p:blipFill>
        <p:spPr bwMode="auto">
          <a:xfrm>
            <a:off x="3568700" y="1892300"/>
            <a:ext cx="5105400" cy="10033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t>How many counters did you distribute to all the sets? (18)</a:t>
            </a:r>
          </a:p>
          <a:p>
            <a:pPr lvl="0" indent="0" marL="0">
              <a:buNone/>
            </a:pPr>
            <a:r>
              <a:rPr/>
              <a:t>In to how many sets did you distribute the counters evenly? (3)</a:t>
            </a:r>
          </a:p>
          <a:p>
            <a:pPr lvl="0" indent="0" marL="0">
              <a:buNone/>
            </a:pPr>
            <a:r>
              <a:rPr/>
              <a:t>How many counters do you have in each set?</a:t>
            </a:r>
          </a:p>
        </p:txBody>
      </p:sp>
      <p:pic>
        <p:nvPicPr>
          <p:cNvPr descr="images/clipboard-2557671039.png" id="0" name="Picture 1"/>
          <p:cNvPicPr>
            <a:picLocks noGrp="1" noChangeAspect="1"/>
          </p:cNvPicPr>
          <p:nvPr/>
        </p:nvPicPr>
        <p:blipFill>
          <a:blip r:embed="rId2"/>
          <a:stretch>
            <a:fillRect/>
          </a:stretch>
        </p:blipFill>
        <p:spPr bwMode="auto">
          <a:xfrm>
            <a:off x="3568700" y="1714500"/>
            <a:ext cx="5105400" cy="1371600"/>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t>6 positive counters</a:t>
            </a:r>
          </a:p>
          <a:p>
            <a:pPr lvl="0" indent="0" marL="0">
              <a:buNone/>
            </a:pPr>
            <a:r>
              <a:rPr/>
              <a:t>Do these counters in each set have the same sign? (Yes) What is the sign? (Positive) Therefore, if you divide +18 by +3 you will get the quotient of +6.</a:t>
            </a:r>
          </a:p>
          <a:p>
            <a:pPr lvl="0" indent="0" marL="0">
              <a:buNone/>
            </a:pPr>
            <a:r>
              <a:rPr b="1"/>
              <a:t>+18 ÷ +3 = N</a:t>
            </a:r>
          </a:p>
          <a:p>
            <a:pPr lvl="0" indent="0" marL="0">
              <a:buNone/>
            </a:pPr>
            <a:r>
              <a:rPr/>
              <a:t>Going back to the problem, JR traveled 6 kilometers per hour going north (+6). We can also visualize how to divide +18 by +3 using a number line.</a:t>
            </a:r>
          </a:p>
          <a:p>
            <a:pPr lvl="0" indent="0" marL="0">
              <a:buNone/>
            </a:pPr>
            <a:r>
              <a:rPr b="1"/>
              <a:t>Step 1:</a:t>
            </a:r>
            <a:r>
              <a:rPr/>
              <a:t> From 0, locate +18 on the number line by moving 18 units to the right of 0.</a:t>
            </a:r>
          </a:p>
        </p:txBody>
      </p:sp>
      <p:pic>
        <p:nvPicPr>
          <p:cNvPr descr="images/clipboard-3771884663.png" id="0" name="Picture 1"/>
          <p:cNvPicPr>
            <a:picLocks noGrp="1" noChangeAspect="1"/>
          </p:cNvPicPr>
          <p:nvPr/>
        </p:nvPicPr>
        <p:blipFill>
          <a:blip r:embed="rId2"/>
          <a:stretch>
            <a:fillRect/>
          </a:stretch>
        </p:blipFill>
        <p:spPr bwMode="auto">
          <a:xfrm>
            <a:off x="3568700" y="1968500"/>
            <a:ext cx="5105400" cy="8509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b="1"/>
              <a:t>Step 2:</a:t>
            </a:r>
            <a:r>
              <a:rPr/>
              <a:t> Divide the total number of units (18) which is the dividend into 3 equal parts since our divisor is +3.</a:t>
            </a:r>
          </a:p>
        </p:txBody>
      </p:sp>
      <p:pic>
        <p:nvPicPr>
          <p:cNvPr descr="images/clipboard-18912370.png" id="0" name="Picture 1"/>
          <p:cNvPicPr>
            <a:picLocks noGrp="1" noChangeAspect="1"/>
          </p:cNvPicPr>
          <p:nvPr/>
        </p:nvPicPr>
        <p:blipFill>
          <a:blip r:embed="rId2"/>
          <a:stretch>
            <a:fillRect/>
          </a:stretch>
        </p:blipFill>
        <p:spPr bwMode="auto">
          <a:xfrm>
            <a:off x="3568700" y="1879600"/>
            <a:ext cx="5105400" cy="10287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t>Each part represents the distance traveled in one hour and the number of units in each part represents the number of kilometers JR traveled every hour. See (the) illustration below.</a:t>
            </a:r>
          </a:p>
        </p:txBody>
      </p:sp>
      <p:pic>
        <p:nvPicPr>
          <p:cNvPr descr="images/clipboard-925433793.png" id="0" name="Picture 1"/>
          <p:cNvPicPr>
            <a:picLocks noGrp="1" noChangeAspect="1"/>
          </p:cNvPicPr>
          <p:nvPr/>
        </p:nvPicPr>
        <p:blipFill>
          <a:blip r:embed="rId2"/>
          <a:stretch>
            <a:fillRect/>
          </a:stretch>
        </p:blipFill>
        <p:spPr bwMode="auto">
          <a:xfrm>
            <a:off x="3568700" y="1879600"/>
            <a:ext cx="5105400" cy="10287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t>On the first hour, JR traveled a distance of 6 kilometers, another 6 kilometers during the second hour and then 6 kilometers during the third hour. Hence, he traveled a distance of 6 kilometers every hour.</a:t>
            </a:r>
          </a:p>
          <a:p>
            <a:pPr lvl="0" indent="0" marL="0">
              <a:buNone/>
            </a:pPr>
            <a:r>
              <a:rPr/>
              <a:t>Therefore </a:t>
            </a:r>
            <a:r>
              <a:rPr b="1"/>
              <a:t>+18 ÷ +3 = N</a:t>
            </a:r>
          </a:p>
          <a:p>
            <a:pPr lvl="0" indent="0" marL="0">
              <a:spcBef>
                <a:spcPts val="3000"/>
              </a:spcBef>
              <a:buNone/>
            </a:pPr>
            <a:r>
              <a:rPr b="1"/>
              <a:t>Lesson 2 : Dividing Integers with Unlike Signs</a:t>
            </a:r>
          </a:p>
          <a:p>
            <a:pPr lvl="0" indent="0" marL="0">
              <a:buNone/>
            </a:pPr>
            <a:r>
              <a:rPr/>
              <a:t>You used the relationship between multiplication and division to make conjectures about the signs of quotients of integers. You can use multiplication to understand why division by is not possible.</a:t>
            </a:r>
          </a:p>
          <a:p>
            <a:pPr lvl="0" indent="0" marL="0">
              <a:buNone/>
            </a:pPr>
            <a:r>
              <a:rPr/>
              <a:t>Think about the division problem below and its related multiplication problem.</a:t>
            </a:r>
          </a:p>
          <a:p>
            <a:pPr lvl="0" indent="0" marL="0">
              <a:buNone/>
            </a:pPr>
            <a:r>
              <a:rPr/>
              <a:t>5 ÷ 0 = ? 0 × ? = 5</a:t>
            </a:r>
          </a:p>
          <a:p>
            <a:pPr lvl="0" indent="0" marL="0">
              <a:buNone/>
            </a:pPr>
            <a:r>
              <a:rPr/>
              <a:t>The multiplication sentence says that there is some number times 0 that equals 5. You already know that 0 times any number equals 0. This means division by 0 is not possible, so we say that division by 0 is undefined.</a:t>
            </a:r>
          </a:p>
          <a:p>
            <a:pPr lvl="0" indent="0" marL="0">
              <a:spcBef>
                <a:spcPts val="3000"/>
              </a:spcBef>
              <a:buNone/>
            </a:pPr>
            <a:r>
              <a:rPr b="1"/>
              <a:t>EXAMPLE 1</a:t>
            </a:r>
          </a:p>
        </p:txBody>
      </p:sp>
      <p:pic>
        <p:nvPicPr>
          <p:cNvPr descr="images/clipboard-4056068022.png" id="0" name="Picture 1"/>
          <p:cNvPicPr>
            <a:picLocks noGrp="1" noChangeAspect="1"/>
          </p:cNvPicPr>
          <p:nvPr/>
        </p:nvPicPr>
        <p:blipFill>
          <a:blip r:embed="rId2"/>
          <a:stretch>
            <a:fillRect/>
          </a:stretch>
        </p:blipFill>
        <p:spPr bwMode="auto">
          <a:xfrm>
            <a:off x="3632200" y="203200"/>
            <a:ext cx="4978400" cy="4381500"/>
          </a:xfrm>
          <a:prstGeom prst="rect">
            <a:avLst/>
          </a:prstGeom>
          <a:noFill/>
          <a:ln w="9525">
            <a:noFill/>
            <a:headEnd/>
            <a:tailEnd/>
          </a:ln>
        </p:spPr>
      </p:pic>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The concept in dividing whole numbers is applied in this lesson. In dividing integers with unlike signs, simply divide the given numbers and remember that the product is always negative.</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Operations on Integers</dc:title>
  <dc:creator>-Jaime Niel P. Alap -Leah A. Camonayan</dc:creator>
  <cp:keywords/>
  <dcterms:created xsi:type="dcterms:W3CDTF">2024-07-28T05:02:00Z</dcterms:created>
  <dcterms:modified xsi:type="dcterms:W3CDTF">2024-07-28T05:02:00Z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date">
    <vt:lpwstr>02/15/2024</vt:lpwstr>
  </property>
  <property fmtid="{D5CDD505-2E9C-101B-9397-08002B2CF9AE}" pid="6" name="editor">
    <vt:lpwstr>visual</vt:lpwstr>
  </property>
  <property fmtid="{D5CDD505-2E9C-101B-9397-08002B2CF9AE}" pid="7" name="format">
    <vt:lpwstr>html</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labels">
    <vt:lpwstr/>
  </property>
  <property fmtid="{D5CDD505-2E9C-101B-9397-08002B2CF9AE}" pid="12" name="toc-title">
    <vt:lpwstr>Table of contents</vt:lpwstr>
  </property>
</Properties>
</file>